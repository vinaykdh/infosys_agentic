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Poppins" pitchFamily="2" charset="77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D73301-FF34-49D3-85D1-1C30C177BD46}">
  <a:tblStyle styleId="{08D73301-FF34-49D3-85D1-1C30C177BD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3"/>
  </p:normalViewPr>
  <p:slideViewPr>
    <p:cSldViewPr snapToGrid="0">
      <p:cViewPr varScale="1">
        <p:scale>
          <a:sx n="116" d="100"/>
          <a:sy n="116" d="100"/>
        </p:scale>
        <p:origin x="60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62175"/>
            <a:ext cx="116014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Agentic AI, </a:t>
            </a:r>
            <a:r>
              <a:rPr lang="en-US" sz="480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LangChain</a:t>
            </a:r>
            <a:r>
              <a:rPr lang="en-US" sz="4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, &amp; Prompt Engineering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162425"/>
            <a:ext cx="11049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595937" y="2266950"/>
            <a:ext cx="10001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Section 1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2924175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40343" y="3257550"/>
            <a:ext cx="105113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Introduction to Agentic AI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9787"/>
            <a:ext cx="34290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09787"/>
            <a:ext cx="34290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09787"/>
            <a:ext cx="3429000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405890" y="3119437"/>
            <a:ext cx="176022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Core Definition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66775" y="3786187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AI Agent is an autonomous system that perceives its environment, makes decisions, and takes actions to achieve specific goals.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050869" y="3119437"/>
            <a:ext cx="209026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Key Components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76775" y="3786187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agent is powered by an LLM as the "brain," a set of Tools (e.g., search, APIs), and a Planning/Reasoning loop to decide what to do next.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090898" y="3119437"/>
            <a:ext cx="163020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Why Agentic?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86775" y="3786187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Moves beyond simple Q&amp;A to autonomous problem-solving. Agents can handle complex, multi-step tasks that require intermediate actions and tool use.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0250" y="24241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4241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4241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What is an AI Agent?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88632" y="4143375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1. Chatbots (Reactive)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4629150"/>
            <a:ext cx="3314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Respond directly to input. Follows a simple `Input -&gt; LLM -&gt; Output` path. No ability to act on the world.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355782" y="2343150"/>
            <a:ext cx="348043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2. Agents (Proactive)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438650" y="2828925"/>
            <a:ext cx="3314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Can use tools and plan. Follows a loop: `Goal -&gt; Plan -&gt; Act -&gt; Observe -&gt; Repeat` until the goal is met.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222932" y="4143375"/>
            <a:ext cx="348043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3. Multi-Agent (Collaborative)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305800" y="4962525"/>
            <a:ext cx="3314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Multiple specialized agents work together to solve a complex problem, coordinated by an orchestrator.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213360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00075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9867900" y="381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The Evolution: From Chatbots to Multi-Agents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9750"/>
            <a:ext cx="5286375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09750"/>
            <a:ext cx="528637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962025" y="220027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Tool Use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62025" y="2847975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most fundamental pattern. The LLM is "augmented" with functions (tools) it can call. This gives the agent abilities beyond its pre-trained knowledge.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724650" y="220027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ReAct (Reason + Act)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28479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most common agent loop. The LLM iterates through a cycle: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49434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loop repeats until the final answer is found.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085850" y="3895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00150" y="3895725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Google Search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85850" y="43243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00150" y="4324350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Database Queries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85850" y="4752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200150" y="4752975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Code Execution (Python REPL)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85850" y="51816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200150" y="5181600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Any API (GitHub, Jira, etc.)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953250" y="360997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105650" y="3609975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Reason: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Generate a "Thought" about what to do.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953250" y="403860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105650" y="4038600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Choose a "Tool" to use and the input for it.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953250" y="446722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105650" y="4467225"/>
            <a:ext cx="4124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Observe: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Receive the output from the tool.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Foundational Agentic Design Patterns (1/2)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57375"/>
            <a:ext cx="5286375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57375"/>
            <a:ext cx="5286375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62025" y="224790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Reflection / Self-Correction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962025" y="28956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agent critiques and refines its own work. This is a powerful pattern for improving the quality of complex outputs like code or reports.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62025" y="3943350"/>
            <a:ext cx="45053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 Flow: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1. Agent writes code.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2. Agent runs a "test_code" tool.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3. Agent observes the error.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4. Agent reflects on the error and debugs the code.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724650" y="224790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Plan-and-Execute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24650" y="289560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agent first creates a detailed, multi-step plan to achieve a goal. Then, it executes each step of the plan sequentially.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724650" y="3943350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useful for complex, long-running tasks where a simple ReAct loop might get lost or fail. An "Orchestrator" agent might create the plan and "Worker" agents execute the steps.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Advanced Agentic Design Patterns (2/2)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9787"/>
            <a:ext cx="34290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09787"/>
            <a:ext cx="34290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09787"/>
            <a:ext cx="3429000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1565909" y="3119437"/>
            <a:ext cx="144018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Hierarchical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3786187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"Manager" agent decomposes a goal and delegates sub-tasks to specialized "Worker" agents (e.g., a "Researcher" and a "Writer").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715827" y="3119437"/>
            <a:ext cx="276034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Collaborative (Debate)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676775" y="3786187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Multiple agents "debate" a problem from different perspectives (e.g., "Coder" and "Tester") to arrive at a robust, validated solution.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265920" y="3119437"/>
            <a:ext cx="128016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Sequential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486775" y="3786187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Agents operate in an assembly line. One agent's output (e.g., a rough draft) is passed to the next agent (e.g., an "Editor") for refinement.</a:t>
            </a:r>
            <a:endParaRPr/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8825" y="24241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4241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5975" y="24241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Pattern: Multi-Agent Systems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478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71500" y="14478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LangChain (LCEL)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209550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Provides the core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components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(LLMs, Tools, Prompts). The LangChain Expression Language (LCEL) is for building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stateless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pipelines, or "chains."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31432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Think of it as a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Directed Acyclic Graph (DAG)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It's powerful for linear, predictable workflows (like RAG).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3905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LangGraph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45529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extension of LangChain for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stateful, cyclical computation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It builds agents as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graphs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(state machines).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531495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essential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agentic loops, reflection, and multi-agent systems where state must be updated and passed between nodes.</a:t>
            </a:r>
            <a:endParaRPr/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457325"/>
            <a:ext cx="52673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71500" y="4953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Role of Orchestration: LangChain vs. LangGraph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595937" y="2266950"/>
            <a:ext cx="10001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Section 2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619750" y="2924175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45331" y="3257550"/>
            <a:ext cx="1070133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LangChain Fundamentals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912"/>
            <a:ext cx="2386012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8012" y="1966912"/>
            <a:ext cx="2386012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24525" y="1966912"/>
            <a:ext cx="2562225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0" y="1966912"/>
            <a:ext cx="314325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1339453" y="2976562"/>
            <a:ext cx="85010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Models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866775" y="3643312"/>
            <a:ext cx="1795462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interface to LLMs, Chat Models, and Embedding Models (e.g., `ChatOpenAI`, `Ollama`).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4035980" y="2976562"/>
            <a:ext cx="61007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Tools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3443287" y="3643312"/>
            <a:ext cx="1795462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Functions agents can call. A `Tool` is a single function; a `Toolkit` is a set of tools (e.g., GitHub toolkit).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500574" y="2976562"/>
            <a:ext cx="1010126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Prompts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019800" y="3643312"/>
            <a:ext cx="197167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`PromptTemplates` and `ChatPromptTemplates` to format and parameterize input for the model.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548812" y="2976562"/>
            <a:ext cx="10001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Memory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772525" y="3643312"/>
            <a:ext cx="2552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Enables chains/agents to remember previous interactions (e.g., `ConversationBufferMemory`).</a:t>
            </a:r>
            <a:endParaRPr/>
          </a:p>
        </p:txBody>
      </p:sp>
      <p:pic>
        <p:nvPicPr>
          <p:cNvPr id="227" name="Google Shape;22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78756" y="22812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112418" y="2281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48462" y="228123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48850" y="22812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Core LangChain Components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4562"/>
            <a:ext cx="5286375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14562"/>
            <a:ext cx="5286375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962025" y="26050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Chains (using LCEL)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962025" y="3252787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Deterministic &amp; Stateless.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962025" y="372903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Chains follow a pre-defined path (DAG). 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developer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decides the exact sequence of logic.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6724650" y="2605087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Agents (using LangGraph)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724650" y="3252787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Non-Deterministic &amp; Stateful.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724650" y="3729037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LLM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decides the path at runtime based on the input and intermediate results. It operates in a loop.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085850" y="44910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200150" y="4491037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Retrieval-Augmented Generation (RAG), summarization, simple tool use, prompt formatting.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848475" y="44910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962775" y="4491037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Autonomous research, coding assistants, complex problem solving, multi-agent systems.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Conceptual Difference: Agents vs. Chains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981819"/>
            <a:ext cx="4273897" cy="5847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21647" y="981819"/>
            <a:ext cx="6298852" cy="584701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962025" y="1372344"/>
            <a:ext cx="366748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1. Install Libraries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962025" y="2020044"/>
            <a:ext cx="34928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Install the core libraries for LangChain, the OpenAI integration, and LangGraph.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962025" y="2782044"/>
            <a:ext cx="349284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pip install langchain langchain-openai langgraph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962025" y="3582144"/>
            <a:ext cx="366748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2. Set API Keys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962025" y="4229844"/>
            <a:ext cx="349284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Set as environment variables. LangSmith is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highly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recommended for debugging agents.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962025" y="5277594"/>
            <a:ext cx="34928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OPENAI_API_KEY="sk-..."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962025" y="5772894"/>
            <a:ext cx="34928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LANGSMITH_API_KEY="..."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5712172" y="1372344"/>
            <a:ext cx="57936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3. Simple Chain (LCEL)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5712172" y="2020044"/>
            <a:ext cx="551780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example shows the LangChain Expression Language (LCEL) "pipe" syntax.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571500" y="29319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Setting Up Your LangChain Environment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5595937" y="1695450"/>
            <a:ext cx="10001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Section 3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5619750" y="2352675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295275" y="2686050"/>
            <a:ext cx="1160145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Prompt Engineering Essentials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0225"/>
            <a:ext cx="5286375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00225"/>
            <a:ext cx="528637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 txBox="1"/>
          <p:nvPr/>
        </p:nvSpPr>
        <p:spPr>
          <a:xfrm>
            <a:off x="962025" y="21907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Prompt Templates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962025" y="283845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Reusable, parameterized prompts. This is the first step in prompt engineering.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6724650" y="2190750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Context Management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6724650" y="283845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LLMs have a limited "context window" (the number of tokens they can remember).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1085850" y="36004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1200150" y="3600450"/>
            <a:ext cx="4267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Provides consistency, safety, and separates your application logic from the prompt instructions.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1085850" y="43148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1200150" y="4314825"/>
            <a:ext cx="426720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You are a helpful {role}. Answer the user's question: {question}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6848475" y="36004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6962775" y="3600450"/>
            <a:ext cx="42672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Chat History: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conversations, use Memory components to automatically manage and pass history.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6848475" y="46196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6962775" y="4619625"/>
            <a:ext cx="4267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Large Docs: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large documents, use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RAG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You retrieve only the most relevant chunks and "stuff" them into the prompt.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Templates &amp; Context Management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096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7"/>
          <p:cNvSpPr txBox="1"/>
          <p:nvPr/>
        </p:nvSpPr>
        <p:spPr>
          <a:xfrm>
            <a:off x="571500" y="12096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Zero-Shot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571500" y="1857375"/>
            <a:ext cx="5286375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Relying on the LLM's pre-trained knowledge to follow an instruction.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Prompt: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"Classify: 'This is great!' -&gt;"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571500" y="29241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Few-Shot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571500" y="357187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Providing 2-5 examples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 the prompt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guide the LLM's output format and reasoning. This is extremely effective for complex or specific formatting tasks.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571500" y="4619625"/>
            <a:ext cx="5286375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Prompt: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"Classify: 'I hate this' -&gt; Negative"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"Classify: 'This is amazing!' -&gt; Positive"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"Classify: 'It was okay.' -&gt; Neutral"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"Classify: 'This is great!' -&gt;"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(LLM will reliably answer `Positive`)</a:t>
            </a:r>
            <a:endParaRPr/>
          </a:p>
        </p:txBody>
      </p:sp>
      <p:pic>
        <p:nvPicPr>
          <p:cNvPr id="306" name="Google Shape;30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192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 txBox="1"/>
          <p:nvPr/>
        </p:nvSpPr>
        <p:spPr>
          <a:xfrm>
            <a:off x="571500" y="25717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Few-Shot Prompting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3" name="Google Shape;313;p28"/>
          <p:cNvGraphicFramePr/>
          <p:nvPr/>
        </p:nvGraphicFramePr>
        <p:xfrm>
          <a:off x="571500" y="18573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{08D73301-FF34-49D3-85D1-1C30C177BD46}</a:tableStyleId>
              </a:tblPr>
              <a:tblGrid>
                <a:gridCol w="16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Parameter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it Does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Case for Developers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Temperature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Controls randomness/creativity. (0.0 = deterministic, 1.0+ = creative)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</a:t>
                      </a: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 (0.0-0.2)</a:t>
                      </a: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for factual answers, classification, or code generation. Use </a:t>
                      </a: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(0.7+)</a:t>
                      </a: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for creative writing or brainstorming.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 Tokens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maximum number of tokens to </a:t>
                      </a: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generate</a:t>
                      </a: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in the output.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Controls cost and prevents runaway/incomplete outputs. Keep it as low as you reasonably need.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Chain Type (RAG)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How context is "stuffed" into the prompt. (`stuff`, `map_reduce`, `refine`)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</a:t>
                      </a: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`stuff`</a:t>
                      </a: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(fastest) if all docs fit in the context. Use </a:t>
                      </a: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`map_reduce`</a:t>
                      </a: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(slower, more calls) if you have too many docs to fit.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Stop Sequences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string that, when generated, forces the model to stop.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Useful for forcing formatted output. E.g., if you ask for JSON, you can set the stop sequence to `}`.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4" name="Google Shape;314;p28"/>
          <p:cNvSpPr/>
          <p:nvPr/>
        </p:nvSpPr>
        <p:spPr>
          <a:xfrm>
            <a:off x="571500" y="2481262"/>
            <a:ext cx="1644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2216199" y="2481262"/>
            <a:ext cx="38634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6079628" y="2481262"/>
            <a:ext cx="55408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571500" y="3348037"/>
            <a:ext cx="1644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2216199" y="3348037"/>
            <a:ext cx="38634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6079628" y="3348037"/>
            <a:ext cx="55408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571500" y="4214812"/>
            <a:ext cx="1644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2216199" y="4214812"/>
            <a:ext cx="38634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6079628" y="4214812"/>
            <a:ext cx="55408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571500" y="5081587"/>
            <a:ext cx="1644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2216199" y="5081587"/>
            <a:ext cx="38634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6079628" y="5081587"/>
            <a:ext cx="55408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Parameter Tuning for Developers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9"/>
          <p:cNvSpPr txBox="1"/>
          <p:nvPr/>
        </p:nvSpPr>
        <p:spPr>
          <a:xfrm>
            <a:off x="295275" y="2762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1395</Words>
  <Application>Microsoft Macintosh PowerPoint</Application>
  <PresentationFormat>Widescreen</PresentationFormat>
  <Paragraphs>128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Lato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vinay kumar</cp:lastModifiedBy>
  <cp:revision>1</cp:revision>
  <dcterms:modified xsi:type="dcterms:W3CDTF">2025-11-18T22:09:33Z</dcterms:modified>
</cp:coreProperties>
</file>