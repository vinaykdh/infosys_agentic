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0A46DD-CE6A-4C9D-A2AF-518F949C2CD2}">
  <a:tblStyle styleId="{890A46DD-CE6A-4C9D-A2AF-518F949C2C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710779"/>
            <a:ext cx="5540692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Building Agentic AI Systems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415879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A Developer's Guide to LangChain, LangGraph, &amp; Prompt Engineering.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025366" y="2326927"/>
            <a:ext cx="1014126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Part 1: The Rise of Agentic AI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831877"/>
            <a:ext cx="952500" cy="47625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05125" y="4165252"/>
            <a:ext cx="6381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Why we are moving from simple chatbots to autonomous agents.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77504"/>
            <a:ext cx="5276850" cy="3455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77504"/>
            <a:ext cx="5276850" cy="345549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568029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What is an Agent?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139529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An LLM-powered system that can </a:t>
            </a: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reason, plan, and act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to achieve a goal. It combines: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568029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Why Agentic Systems?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139529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To move from </a:t>
            </a:r>
            <a:r>
              <a:rPr b="0" i="1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passive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text generation to </a:t>
            </a:r>
            <a:r>
              <a:rPr b="0" i="1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active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task automation. Agents provide: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14425" y="385860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09675" y="3859559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 "Brain":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The Large Language Model (e.g., GPT-4).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14425" y="42281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09675" y="4229100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Tools: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Capabilities like APIs, code execution, or database queries.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14425" y="48719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209675" y="4872930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Memory: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Short-term or long-term state to track its work.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67525" y="385860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3859559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Autonomy: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Act without constant human intervention.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67525" y="42281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4229100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Pro-activity: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Take initiative to solve problems.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67525" y="45976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62775" y="4598640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Complex Reasoning: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Break down multi-step tasks and execute them.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What is an AI Agent?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581025" y="3886200"/>
            <a:ext cx="11029950" cy="38100"/>
          </a:xfrm>
          <a:prstGeom prst="roundRect">
            <a:avLst>
              <a:gd fmla="val 16667" name="adj"/>
            </a:avLst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10297" y="4143375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1. Chatbot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71525" y="4610100"/>
            <a:ext cx="244911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Input → LLM → Output.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 Reactive and stateless.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443525" y="2316658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2. RAG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504753" y="2783383"/>
            <a:ext cx="244911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Input → Retrieve Docs → LLM + Docs → Output. Knowledge-augmented.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176754" y="4143375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3. Agent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237982" y="4610100"/>
            <a:ext cx="244911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Input → LLM(Thought) → Tool → LLM(Observe) → Output. Basic reasoning loop.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909982" y="2316658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4. Multi-Agent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971210" y="2783383"/>
            <a:ext cx="244911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Goal → Orchestrator → [Agent 1 ↔ Agent 2] → Final Output. Collaborative.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1900832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202C"/>
          </a:solidFill>
          <a:ln cap="flat" cmpd="sng" w="381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634061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202C"/>
          </a:solidFill>
          <a:ln cap="flat" cmpd="sng" w="381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36728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202C"/>
          </a:solidFill>
          <a:ln cap="flat" cmpd="sng" w="381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0100518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202C"/>
          </a:solidFill>
          <a:ln cap="flat" cmpd="sng" w="381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The Evolution of LLM Applications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6240"/>
            <a:ext cx="3422600" cy="3198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06240"/>
            <a:ext cx="3422600" cy="3198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306240"/>
            <a:ext cx="3422600" cy="319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76300" y="3315890"/>
            <a:ext cx="286035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ReAct (Reason + Act)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76300" y="3992165"/>
            <a:ext cx="28320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The fundamental loop: The agent </a:t>
            </a:r>
            <a:r>
              <a:rPr b="1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Thinks</a:t>
            </a:r>
            <a:r>
              <a:rPr b="0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(reasons), </a:t>
            </a:r>
            <a:r>
              <a:rPr b="1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Acts</a:t>
            </a:r>
            <a:r>
              <a:rPr b="0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(uses a tool), and </a:t>
            </a:r>
            <a:r>
              <a:rPr b="1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Observes</a:t>
            </a:r>
            <a:r>
              <a:rPr b="0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(gets the result) to decide the next step.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79900" y="3315890"/>
            <a:ext cx="113014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Tool Use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79900" y="3992165"/>
            <a:ext cx="2832050" cy="105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Giving the agent capabilities beyond text generation, such as run_code, search_api, or get_weather, to interact with the real world.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83500" y="3315890"/>
            <a:ext cx="28403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Multi-Agent Systems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83500" y="3992165"/>
            <a:ext cx="28320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Using specialized agents that collaborate. For example, a "Planner" agent tells a "Coder" agent what to build and a "Tester" agent to verify it.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205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9900" y="26205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3500" y="262056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Key Agentic Design Patterns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9891"/>
            <a:ext cx="5276850" cy="335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29891"/>
            <a:ext cx="5276850" cy="335071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71550" y="2620416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LangChain (LCEL)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24650" y="2620416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LangGraph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14425" y="316238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209675" y="3163341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What it is: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A toolkit for composing components.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14425" y="353192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209675" y="353288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Best for: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1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Directed Acyclic Graphs (DAGs)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14425" y="390146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209675" y="390242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A linear "assembly line."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114425" y="427101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209675" y="4271962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RAG, simple tool use, prompt chains where the path is fixed.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867525" y="316238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962775" y="3163341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What it is: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A library for building stateful, multi-actor applications.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867525" y="380621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962775" y="380717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Best for: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1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Cyclic Graphs (loops)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867525" y="41757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962775" y="417671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A "state machine" or "control room."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867525" y="454530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962775" y="4546252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True autonomous agents, self-correction, human-in-the-loop, multi-agent systems.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The Orchestration Challenge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385286" y="2326927"/>
            <a:ext cx="1142142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Part 2: LangChain &amp; LangGraph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619750" y="3831877"/>
            <a:ext cx="952500" cy="47625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943350" y="4165252"/>
            <a:ext cx="4305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The building blocks of your LLM application.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2238375" y="2519362"/>
            <a:ext cx="814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E05E"/>
                </a:solidFill>
                <a:latin typeface="Lato"/>
                <a:ea typeface="Lato"/>
                <a:cs typeface="Lato"/>
                <a:sym typeface="Lato"/>
              </a:rPr>
              <a:t>Models:</a:t>
            </a:r>
            <a:r>
              <a:rPr b="0" i="0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The interface to the "brain" (e.g., ChatOpenAI, Anthropic).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238375" y="3081337"/>
            <a:ext cx="814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E05E"/>
                </a:solidFill>
                <a:latin typeface="Lato"/>
                <a:ea typeface="Lato"/>
                <a:cs typeface="Lato"/>
                <a:sym typeface="Lato"/>
              </a:rPr>
              <a:t>Chains (LCEL):</a:t>
            </a:r>
            <a:r>
              <a:rPr b="0" i="0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The "syntax" for piping components together using the | (pipe) operator.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2238375" y="364331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E05E"/>
                </a:solidFill>
                <a:latin typeface="Lato"/>
                <a:ea typeface="Lato"/>
                <a:cs typeface="Lato"/>
                <a:sym typeface="Lato"/>
              </a:rPr>
              <a:t>Tools &amp; Retrievers:</a:t>
            </a:r>
            <a:r>
              <a:rPr b="0" i="0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What the agent can </a:t>
            </a:r>
            <a:r>
              <a:rPr b="0" i="1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do</a:t>
            </a:r>
            <a:r>
              <a:rPr b="0" i="0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. (e.g., search, run code, query a vector database).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2238375" y="4186237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E05E"/>
                </a:solidFill>
                <a:latin typeface="Lato"/>
                <a:ea typeface="Lato"/>
                <a:cs typeface="Lato"/>
                <a:sym typeface="Lato"/>
              </a:rPr>
              <a:t>Memory:</a:t>
            </a:r>
            <a:r>
              <a:rPr b="0" i="0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Gives the agent a short-term or long-term memory to persist state.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238375" y="4729162"/>
            <a:ext cx="8143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E05E"/>
                </a:solidFill>
                <a:latin typeface="Lato"/>
                <a:ea typeface="Lato"/>
                <a:cs typeface="Lato"/>
                <a:sym typeface="Lato"/>
              </a:rPr>
              <a:t>Setup:</a:t>
            </a:r>
            <a:r>
              <a:rPr b="0" i="0" lang="en-US" sz="15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pip install langchain openai langgraph &amp; set OPENAI_API_KEY.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6698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2896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69093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23386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776787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Core LangChain Components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21"/>
          <p:cNvGraphicFramePr/>
          <p:nvPr/>
        </p:nvGraphicFramePr>
        <p:xfrm>
          <a:off x="581025" y="2297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{890A46DD-CE6A-4C9D-A2AF-518F949C2CD2}</a:tableStyleId>
              </a:tblPr>
              <a:tblGrid>
                <a:gridCol w="1755125"/>
                <a:gridCol w="4098725"/>
                <a:gridCol w="5176100"/>
              </a:tblGrid>
              <a:tr h="64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2E8F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2E8F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Chains (LangChain LCEL)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2E8F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Agents (LangGraph)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748"/>
                    </a:solidFill>
                  </a:tcPr>
                </a:tc>
              </a:tr>
              <a:tr h="64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Execution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Deterministic</a:t>
                      </a: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(Fixed, defined by developer)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Non-deterministic</a:t>
                      </a: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(LLM decides next step)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Graph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DAG</a:t>
                      </a: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(Directed Acyclic Graph) - Linear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Cyclic Graph</a:t>
                      </a: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(Allows loops, retries, jumps)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Stateless (or simple pass-through Memory)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Explicit, Central State Object</a:t>
                      </a: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that is modified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RAG, Summarization, Q&amp;A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Autonomous tasks, Self-correction, Multi-agent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1"/>
          <p:cNvSpPr/>
          <p:nvPr/>
        </p:nvSpPr>
        <p:spPr>
          <a:xfrm>
            <a:off x="581025" y="2940546"/>
            <a:ext cx="1755130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336155" y="2940546"/>
            <a:ext cx="4098726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434881" y="2940546"/>
            <a:ext cx="5176093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81025" y="3582441"/>
            <a:ext cx="1755130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336155" y="3582441"/>
            <a:ext cx="4098726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434881" y="3582441"/>
            <a:ext cx="5176093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81025" y="4224337"/>
            <a:ext cx="1755130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336155" y="4224337"/>
            <a:ext cx="4098726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434881" y="4224337"/>
            <a:ext cx="5176093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81025" y="4866233"/>
            <a:ext cx="1755130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336155" y="4866233"/>
            <a:ext cx="4098726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434881" y="4866233"/>
            <a:ext cx="5176093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Conceptual Difference: Chains vs. Agents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205388" y="2326927"/>
            <a:ext cx="978122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Part 3: Prompt Engineering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619750" y="3831877"/>
            <a:ext cx="952500" cy="47625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271962" y="4165252"/>
            <a:ext cx="3648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Controlling the "brain" of your agent.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72754"/>
            <a:ext cx="5276850" cy="3264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72754"/>
            <a:ext cx="5276850" cy="32649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971550" y="2663279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Prompting Techniques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724650" y="2663279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Key Parameters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114425" y="320525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209675" y="3206204"/>
            <a:ext cx="425767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Prompt Templates: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Reusable, parameterized structures (e.g., Human: {question}).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114425" y="385860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209675" y="3859559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Few-Shot Prompting: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Providing 2-3 examples of "good" inputs/outputs in the prompt.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114425" y="45024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209675" y="4503390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Context Management (RAG):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"Stuffing" relevant documents into the context window.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867525" y="320525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962775" y="3206204"/>
            <a:ext cx="425767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Temperature: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Controls creativity. (0.0 = Deterministic, 1.0 = Creative).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867525" y="386813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962775" y="3869084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Max Tokens: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Controls output length, cost, and speed.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867525" y="42376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962775" y="4238625"/>
            <a:ext cx="425767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Chain Type (for RAG):</a:t>
            </a:r>
            <a:r>
              <a:rPr b="0" i="0" lang="en-US" sz="135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Defines how to handle large contexts (e.g., stuff, map_reduce).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Prompting Techniques &amp; Tuning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305276" y="2268884"/>
            <a:ext cx="11581447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81025" y="3945284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76400" y="356145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https://static.vecteezy.com/system/resources/thumbnails/066/413/852/small_2x/futuristic-ai-brain-with-glowing-neural-network-lines-and-digital-data-nodes-on-a-dark-blue-background-video.jpg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76400" y="400526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